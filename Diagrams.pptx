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56"/>
    <p:restoredTop sz="94715"/>
  </p:normalViewPr>
  <p:slideViewPr>
    <p:cSldViewPr snapToGrid="0">
      <p:cViewPr varScale="1">
        <p:scale>
          <a:sx n="124" d="100"/>
          <a:sy n="124" d="100"/>
        </p:scale>
        <p:origin x="200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D37BF-A095-A0BA-A535-4ABD357D61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5448DF-1142-1E97-24B2-6DE98D7051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4F5C87-8B3B-A325-3B67-EFADB1017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260F3-085A-6543-ACC7-AF645BD5F7D8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A24066-5CA8-2C49-AE9E-C3100FAD5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0E112-9007-9BBD-E192-E8B13AB0B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885AE-0689-2E44-8E40-27DA64C6F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018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3734E-9111-9E33-496E-AD53B46E4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D59C0-7E81-0E4C-7310-5AD8DC83BC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07606-F039-6F3E-3B3F-938EA45EE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260F3-085A-6543-ACC7-AF645BD5F7D8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8E3EF-C366-6143-7A4C-BCA854272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5B0BE5-6303-EC5C-2F46-3B2F5CD3E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885AE-0689-2E44-8E40-27DA64C6F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966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D20DB-5EBD-6FDA-F8FB-D8E3B3221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0AAEE0-9CC6-96C2-D2D4-4F02A5C572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6B9197-40F6-39F5-B927-BF9D7BAD0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260F3-085A-6543-ACC7-AF645BD5F7D8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A1A2A-6B1A-E201-F02D-9737DA0AC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10DBF-EEF8-8FC9-D1EF-5EE7225F4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885AE-0689-2E44-8E40-27DA64C6F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419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090E-AFD4-6025-E6B1-3A611A37C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CFBFD-6FED-0A19-FB27-4C83AD2A2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F04600-C841-8641-A48C-DD8660F8DE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F60851-73A6-03B0-45F5-7A6D39AA2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260F3-085A-6543-ACC7-AF645BD5F7D8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5FF595-0121-73EF-C0D9-31106D7BF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CFDA7E-E9F1-D7DA-888C-653DE789C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885AE-0689-2E44-8E40-27DA64C6F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535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EBB04-DE36-7A23-9E1B-388A7BC3B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64191E-3644-F426-1580-0B109B56F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AA0633-C7F6-9F98-E196-78B228696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AA0CF7-E2D6-EE08-93F9-C6146F30C7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BF5A98-5FCA-C309-DE5F-509ACDC576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863068-A05A-DF33-6E07-4BFEB9FFC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260F3-085A-6543-ACC7-AF645BD5F7D8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809A2A-FF82-06A8-1F42-1BE65E3CE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DAE86E-B4C3-ACB4-8565-EC5AF9A84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885AE-0689-2E44-8E40-27DA64C6F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025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7B738-4C6C-9C56-C24B-96DC5FA12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0DA85A-3A01-7BEC-4A9D-25C76ACBD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260F3-085A-6543-ACC7-AF645BD5F7D8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A2C26A-0C0F-E935-6350-A1D1E7EEA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290A88-BEFB-D920-7E66-A2C0DA72D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885AE-0689-2E44-8E40-27DA64C6F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52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2DFC21-EC02-B0C3-6623-F9634AEF5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260F3-085A-6543-ACC7-AF645BD5F7D8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3EA464-A48A-671F-67DF-F0E0A389D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AC05FD-42A6-6CDA-AE66-7017746B2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885AE-0689-2E44-8E40-27DA64C6F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946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492D4-3391-58F5-042C-C00407943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A056B-48F7-2A04-8BF9-A4E4679B8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C5A7A4-6E81-E9CE-CE44-30F48518C2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191928-AA85-BC85-7D8F-F82325DAB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260F3-085A-6543-ACC7-AF645BD5F7D8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24BF78-D2BD-AB92-6EC9-649CFD34D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5364E-A8B7-F27C-5F0E-787D5BF9E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885AE-0689-2E44-8E40-27DA64C6F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894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B72CF-99AD-F261-71F3-3BC1ED354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870AD7-191E-92CF-A3F7-E95AA8783B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702DC9-41B2-D18B-6C78-3B698D3E01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4A8A61-33FF-F726-A9EA-2D63092E3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260F3-085A-6543-ACC7-AF645BD5F7D8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C6A76F-C692-FC4B-A7D5-72C8BBB27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177A9E-11BA-7FD6-6423-0112BDD46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885AE-0689-2E44-8E40-27DA64C6F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4360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0DC9D-BAD6-3B4D-0EC1-7E71A3D5B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424D60-8BDD-B4B7-74F2-FB9F207D9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13DCBF-D994-6DB2-7DE4-80D698BCD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260F3-085A-6543-ACC7-AF645BD5F7D8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2639BC-0665-1812-40D8-F3E95D837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0CCABB-9322-0AA6-DB9D-DC1D39D4F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885AE-0689-2E44-8E40-27DA64C6F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008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6EDA07-8DFB-C446-5B6D-E821923158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3D924-22AD-DC65-5CCC-E19F32EF8E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632AA-6246-7FF2-7AD0-BB7F382AF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260F3-085A-6543-ACC7-AF645BD5F7D8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015355-30BE-0EB1-8416-DA9FFF2E9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9B0C91-7925-237D-F9B2-9E273D4B5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885AE-0689-2E44-8E40-27DA64C6F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335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726AE50-1D8B-1E87-213A-B81F42B36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667A26-2A02-ED8F-16AD-865FDAA8A2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C8BF4E-B791-C479-A6BC-B433FFA803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E260F3-085A-6543-ACC7-AF645BD5F7D8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1DA74-E9AF-3832-4FA7-56F3BA55BF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A99DFA-327C-1170-C3AE-EEF2C905FC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5885AE-0689-2E44-8E40-27DA64C6F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595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D585D07-6471-1B4A-32D8-32326D201F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486" y="566057"/>
            <a:ext cx="10428514" cy="4691743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D1CAF43-9AE2-A26B-C2D4-4288280FADDA}"/>
              </a:ext>
            </a:extLst>
          </p:cNvPr>
          <p:cNvSpPr/>
          <p:nvPr/>
        </p:nvSpPr>
        <p:spPr>
          <a:xfrm>
            <a:off x="642257" y="1981200"/>
            <a:ext cx="1513115" cy="13716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User</a:t>
            </a:r>
            <a:r>
              <a:rPr lang="en-US" dirty="0"/>
              <a:t>: </a:t>
            </a:r>
            <a:r>
              <a:rPr lang="en-US" sz="1400" dirty="0"/>
              <a:t>Specifies problem context &amp; dataset</a:t>
            </a:r>
          </a:p>
        </p:txBody>
      </p:sp>
      <p:sp>
        <p:nvSpPr>
          <p:cNvPr id="5" name="Round Diagonal Corner Rectangle 4">
            <a:extLst>
              <a:ext uri="{FF2B5EF4-FFF2-40B4-BE49-F238E27FC236}">
                <a16:creationId xmlns:a16="http://schemas.microsoft.com/office/drawing/2014/main" id="{47188A03-0D58-69C8-6C4E-45216C6D217D}"/>
              </a:ext>
            </a:extLst>
          </p:cNvPr>
          <p:cNvSpPr/>
          <p:nvPr/>
        </p:nvSpPr>
        <p:spPr>
          <a:xfrm>
            <a:off x="2566851" y="1025906"/>
            <a:ext cx="7881257" cy="3282188"/>
          </a:xfrm>
          <a:prstGeom prst="round2Diag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3A2E61F-3E45-E1F6-04B1-61AB14D52830}"/>
              </a:ext>
            </a:extLst>
          </p:cNvPr>
          <p:cNvSpPr/>
          <p:nvPr/>
        </p:nvSpPr>
        <p:spPr>
          <a:xfrm>
            <a:off x="2993575" y="1981200"/>
            <a:ext cx="1513115" cy="13716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Specialized SLMs</a:t>
            </a:r>
            <a:r>
              <a:rPr lang="en-US" dirty="0"/>
              <a:t>: </a:t>
            </a:r>
            <a:r>
              <a:rPr lang="en-US" sz="1400" dirty="0"/>
              <a:t>Generates Code for feature engineering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739B071-40AF-9370-BCE7-A87FC136BABD}"/>
              </a:ext>
            </a:extLst>
          </p:cNvPr>
          <p:cNvSpPr/>
          <p:nvPr/>
        </p:nvSpPr>
        <p:spPr>
          <a:xfrm>
            <a:off x="5682342" y="1981200"/>
            <a:ext cx="1513115" cy="13716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Interpreter</a:t>
            </a:r>
            <a:r>
              <a:rPr lang="en-US" dirty="0"/>
              <a:t>: </a:t>
            </a:r>
            <a:r>
              <a:rPr lang="en-US" sz="1400" dirty="0"/>
              <a:t>Executes generated code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B522095-4EEF-78BF-4794-17EA54E1BF1E}"/>
              </a:ext>
            </a:extLst>
          </p:cNvPr>
          <p:cNvSpPr/>
          <p:nvPr/>
        </p:nvSpPr>
        <p:spPr>
          <a:xfrm>
            <a:off x="8147966" y="1981200"/>
            <a:ext cx="1513115" cy="13716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Tabular Prediction Model</a:t>
            </a:r>
            <a:r>
              <a:rPr lang="en-US" dirty="0"/>
              <a:t>: </a:t>
            </a:r>
            <a:r>
              <a:rPr lang="en-US" sz="1400" dirty="0"/>
              <a:t>Performs Cross-Validation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381EA2-D518-B4B3-2C83-68B21EE9F72E}"/>
              </a:ext>
            </a:extLst>
          </p:cNvPr>
          <p:cNvCxnSpPr/>
          <p:nvPr/>
        </p:nvCxnSpPr>
        <p:spPr>
          <a:xfrm>
            <a:off x="2155371" y="2667000"/>
            <a:ext cx="82296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2559F7B-4ABA-6B25-5B80-22752ED68D78}"/>
              </a:ext>
            </a:extLst>
          </p:cNvPr>
          <p:cNvCxnSpPr/>
          <p:nvPr/>
        </p:nvCxnSpPr>
        <p:spPr>
          <a:xfrm>
            <a:off x="4506690" y="2667000"/>
            <a:ext cx="118872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258B846-5B71-7776-7D42-FD6BCAF76629}"/>
              </a:ext>
            </a:extLst>
          </p:cNvPr>
          <p:cNvCxnSpPr/>
          <p:nvPr/>
        </p:nvCxnSpPr>
        <p:spPr>
          <a:xfrm>
            <a:off x="7195457" y="2667000"/>
            <a:ext cx="91440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70435D2C-4921-270B-2083-90E279C6175D}"/>
              </a:ext>
            </a:extLst>
          </p:cNvPr>
          <p:cNvSpPr/>
          <p:nvPr/>
        </p:nvSpPr>
        <p:spPr>
          <a:xfrm>
            <a:off x="4609064" y="1103870"/>
            <a:ext cx="1915303" cy="341863"/>
          </a:xfrm>
          <a:prstGeom prst="rect">
            <a:avLst/>
          </a:prstGeom>
          <a:solidFill>
            <a:schemeClr val="lt1">
              <a:alpha val="21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Evaluate Performance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241084F-F617-9D54-BAEF-F6D40B0D760A}"/>
              </a:ext>
            </a:extLst>
          </p:cNvPr>
          <p:cNvSpPr/>
          <p:nvPr/>
        </p:nvSpPr>
        <p:spPr>
          <a:xfrm>
            <a:off x="4584350" y="1516797"/>
            <a:ext cx="3200407" cy="341863"/>
          </a:xfrm>
          <a:prstGeom prst="rect">
            <a:avLst/>
          </a:prstGeom>
          <a:solidFill>
            <a:schemeClr val="lt1">
              <a:alpha val="21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Keep change if performance is improved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5C48757-2B34-F1BC-A714-CE004B53AF9E}"/>
              </a:ext>
            </a:extLst>
          </p:cNvPr>
          <p:cNvSpPr/>
          <p:nvPr/>
        </p:nvSpPr>
        <p:spPr>
          <a:xfrm>
            <a:off x="8223888" y="1076593"/>
            <a:ext cx="2174789" cy="341863"/>
          </a:xfrm>
          <a:prstGeom prst="rect">
            <a:avLst/>
          </a:prstGeom>
          <a:solidFill>
            <a:schemeClr val="lt1">
              <a:alpha val="75073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SLM-first CAAFE Style</a:t>
            </a:r>
          </a:p>
        </p:txBody>
      </p:sp>
    </p:spTree>
    <p:extLst>
      <p:ext uri="{BB962C8B-B14F-4D97-AF65-F5344CB8AC3E}">
        <p14:creationId xmlns:p14="http://schemas.microsoft.com/office/powerpoint/2010/main" val="18782771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1BAB56-C24E-3753-D8A7-3924976BAE04}"/>
              </a:ext>
            </a:extLst>
          </p:cNvPr>
          <p:cNvSpPr/>
          <p:nvPr/>
        </p:nvSpPr>
        <p:spPr>
          <a:xfrm>
            <a:off x="5157627" y="308226"/>
            <a:ext cx="1263721" cy="44178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Dataset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38DE683-DC57-8169-37B6-03426AB4F100}"/>
              </a:ext>
            </a:extLst>
          </p:cNvPr>
          <p:cNvSpPr/>
          <p:nvPr/>
        </p:nvSpPr>
        <p:spPr>
          <a:xfrm>
            <a:off x="4171309" y="1089063"/>
            <a:ext cx="3400746" cy="565075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Planner Agent</a:t>
            </a:r>
          </a:p>
          <a:p>
            <a:pPr algn="ctr"/>
            <a:r>
              <a:rPr lang="en-US" sz="1200" dirty="0"/>
              <a:t>SLM: Task Routing, Dependency Management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1C17850-0CF6-9B2D-CDA9-F30018DA1FB3}"/>
              </a:ext>
            </a:extLst>
          </p:cNvPr>
          <p:cNvSpPr/>
          <p:nvPr/>
        </p:nvSpPr>
        <p:spPr>
          <a:xfrm>
            <a:off x="441789" y="2095928"/>
            <a:ext cx="1808251" cy="116098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Data Agent</a:t>
            </a:r>
          </a:p>
          <a:p>
            <a:pPr algn="ctr"/>
            <a:endParaRPr lang="en-US" dirty="0"/>
          </a:p>
          <a:p>
            <a:pPr algn="ctr"/>
            <a:r>
              <a:rPr lang="en-US" sz="1200" b="1" dirty="0"/>
              <a:t>SLM</a:t>
            </a:r>
            <a:r>
              <a:rPr lang="en-US" sz="1050" dirty="0"/>
              <a:t> : Quality-Schema-Cleaning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97C13BC-C676-8340-DEBE-8F0AD7AAF06F}"/>
              </a:ext>
            </a:extLst>
          </p:cNvPr>
          <p:cNvSpPr/>
          <p:nvPr/>
        </p:nvSpPr>
        <p:spPr>
          <a:xfrm>
            <a:off x="2936696" y="2095928"/>
            <a:ext cx="1892157" cy="116098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Feature Agent</a:t>
            </a:r>
          </a:p>
          <a:p>
            <a:pPr algn="ctr"/>
            <a:endParaRPr lang="en-US" sz="1600" dirty="0"/>
          </a:p>
          <a:p>
            <a:pPr algn="ctr"/>
            <a:r>
              <a:rPr lang="en-US" sz="1200" b="1" dirty="0"/>
              <a:t>SLM</a:t>
            </a:r>
            <a:r>
              <a:rPr lang="en-US" sz="1100" dirty="0"/>
              <a:t> : Engineering-Transformation</a:t>
            </a:r>
            <a:endParaRPr lang="en-US" sz="1800" dirty="0"/>
          </a:p>
          <a:p>
            <a:pPr algn="ctr"/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C8AD60F-2C48-0C8C-863A-4BBEBBC13849}"/>
              </a:ext>
            </a:extLst>
          </p:cNvPr>
          <p:cNvSpPr/>
          <p:nvPr/>
        </p:nvSpPr>
        <p:spPr>
          <a:xfrm>
            <a:off x="6897386" y="2095928"/>
            <a:ext cx="1979486" cy="116098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Model Agent</a:t>
            </a:r>
          </a:p>
          <a:p>
            <a:pPr algn="ctr"/>
            <a:endParaRPr lang="en-US" sz="1600" dirty="0"/>
          </a:p>
          <a:p>
            <a:pPr algn="ctr"/>
            <a:r>
              <a:rPr lang="en-US" sz="1200" b="1" dirty="0"/>
              <a:t>SLM</a:t>
            </a:r>
            <a:r>
              <a:rPr lang="en-US" sz="1600" dirty="0"/>
              <a:t> : </a:t>
            </a:r>
            <a:r>
              <a:rPr lang="en-US" sz="1200" dirty="0"/>
              <a:t>Architecture-Selection</a:t>
            </a:r>
          </a:p>
          <a:p>
            <a:pPr algn="ctr"/>
            <a:endParaRPr lang="en-US" sz="1600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6743C7C-B976-D7A2-DC52-77337785D9BC}"/>
              </a:ext>
            </a:extLst>
          </p:cNvPr>
          <p:cNvSpPr/>
          <p:nvPr/>
        </p:nvSpPr>
        <p:spPr>
          <a:xfrm>
            <a:off x="9534419" y="2095928"/>
            <a:ext cx="1979486" cy="116098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Hyperparameter Agent</a:t>
            </a:r>
            <a:endParaRPr lang="en-US" sz="2400" b="1" dirty="0"/>
          </a:p>
          <a:p>
            <a:pPr algn="ctr"/>
            <a:r>
              <a:rPr lang="en-US" sz="1200" b="1" dirty="0"/>
              <a:t>SLM</a:t>
            </a:r>
            <a:r>
              <a:rPr lang="en-US" sz="1600" dirty="0"/>
              <a:t> : </a:t>
            </a:r>
            <a:r>
              <a:rPr lang="en-US" sz="1100" dirty="0"/>
              <a:t>Optimization -Tuning</a:t>
            </a:r>
          </a:p>
          <a:p>
            <a:pPr algn="ctr"/>
            <a:endParaRPr lang="en-US" sz="1600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E2E0A85-77DA-7216-39C8-3DA40A9133BA}"/>
              </a:ext>
            </a:extLst>
          </p:cNvPr>
          <p:cNvSpPr/>
          <p:nvPr/>
        </p:nvSpPr>
        <p:spPr>
          <a:xfrm>
            <a:off x="4570287" y="3647326"/>
            <a:ext cx="2388743" cy="116098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Evaluator Agent</a:t>
            </a:r>
          </a:p>
          <a:p>
            <a:pPr algn="ctr"/>
            <a:endParaRPr lang="en-US" sz="1600" dirty="0"/>
          </a:p>
          <a:p>
            <a:pPr algn="ctr"/>
            <a:r>
              <a:rPr lang="en-US" sz="1200" b="1" dirty="0"/>
              <a:t>SLM</a:t>
            </a:r>
            <a:r>
              <a:rPr lang="en-US" dirty="0"/>
              <a:t>: </a:t>
            </a:r>
            <a:r>
              <a:rPr lang="en-US" sz="1200" dirty="0"/>
              <a:t>Metrics—Validation-Reports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8C37E6F-6AEE-42D2-51E8-A7F788B30D61}"/>
              </a:ext>
            </a:extLst>
          </p:cNvPr>
          <p:cNvSpPr/>
          <p:nvPr/>
        </p:nvSpPr>
        <p:spPr>
          <a:xfrm>
            <a:off x="2434975" y="5414482"/>
            <a:ext cx="6041203" cy="626724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Sandboxed Execution</a:t>
            </a:r>
          </a:p>
          <a:p>
            <a:pPr algn="ctr"/>
            <a:r>
              <a:rPr lang="en-US" sz="1400" dirty="0"/>
              <a:t>Structured Communication-Programmatic Validation-Safety Mechanisms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50E05B-16F0-2C63-8FAA-7325645DD4E1}"/>
              </a:ext>
            </a:extLst>
          </p:cNvPr>
          <p:cNvSpPr txBox="1"/>
          <p:nvPr/>
        </p:nvSpPr>
        <p:spPr>
          <a:xfrm>
            <a:off x="9125162" y="4711712"/>
            <a:ext cx="2388743" cy="126188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Key Features</a:t>
            </a:r>
          </a:p>
          <a:p>
            <a:r>
              <a:rPr lang="en-US" sz="1400" dirty="0"/>
              <a:t>----------------------------------</a:t>
            </a:r>
          </a:p>
          <a:p>
            <a:pPr marL="285750" indent="-285750">
              <a:buFont typeface="Wingdings" pitchFamily="2" charset="2"/>
              <a:buChar char="ü"/>
            </a:pPr>
            <a:r>
              <a:rPr lang="en-US" sz="1200" dirty="0"/>
              <a:t>Parallel Execution</a:t>
            </a:r>
          </a:p>
          <a:p>
            <a:pPr marL="285750" indent="-285750">
              <a:buFont typeface="Wingdings" pitchFamily="2" charset="2"/>
              <a:buChar char="ü"/>
            </a:pPr>
            <a:r>
              <a:rPr lang="en-US" sz="1200" dirty="0"/>
              <a:t>Task Dependency Graph</a:t>
            </a:r>
          </a:p>
          <a:p>
            <a:pPr marL="285750" indent="-285750">
              <a:buFont typeface="Wingdings" pitchFamily="2" charset="2"/>
              <a:buChar char="ü"/>
            </a:pPr>
            <a:r>
              <a:rPr lang="en-US" sz="1200" dirty="0"/>
              <a:t>70-90% Context</a:t>
            </a:r>
          </a:p>
          <a:p>
            <a:pPr marL="285750" indent="-285750">
              <a:buFont typeface="Wingdings" pitchFamily="2" charset="2"/>
              <a:buChar char="ü"/>
            </a:pPr>
            <a:r>
              <a:rPr lang="en-US" sz="1200" dirty="0"/>
              <a:t>Sub-5min Runtime</a:t>
            </a:r>
          </a:p>
        </p:txBody>
      </p:sp>
    </p:spTree>
    <p:extLst>
      <p:ext uri="{BB962C8B-B14F-4D97-AF65-F5344CB8AC3E}">
        <p14:creationId xmlns:p14="http://schemas.microsoft.com/office/powerpoint/2010/main" val="2719792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1055</TotalTime>
  <Words>95</Words>
  <Application>Microsoft Macintosh PowerPoint</Application>
  <PresentationFormat>Widescreen</PresentationFormat>
  <Paragraphs>32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Isaac Kobby Anni</dc:creator>
  <cp:lastModifiedBy>Isaac Kobby Anni</cp:lastModifiedBy>
  <cp:revision>5</cp:revision>
  <dcterms:created xsi:type="dcterms:W3CDTF">2025-11-11T04:41:09Z</dcterms:created>
  <dcterms:modified xsi:type="dcterms:W3CDTF">2025-11-11T22:17:04Z</dcterms:modified>
</cp:coreProperties>
</file>